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9" r:id="rId6"/>
    <p:sldId id="339" r:id="rId7"/>
    <p:sldId id="340" r:id="rId8"/>
    <p:sldId id="344" r:id="rId9"/>
    <p:sldId id="345" r:id="rId10"/>
    <p:sldId id="346" r:id="rId11"/>
    <p:sldId id="341" r:id="rId12"/>
    <p:sldId id="342" r:id="rId13"/>
    <p:sldId id="34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97" autoAdjust="0"/>
    <p:restoredTop sz="95033" autoAdjust="0"/>
  </p:normalViewPr>
  <p:slideViewPr>
    <p:cSldViewPr snapToGrid="0">
      <p:cViewPr varScale="1">
        <p:scale>
          <a:sx n="57" d="100"/>
          <a:sy n="57" d="100"/>
        </p:scale>
        <p:origin x="82" y="61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6" r:id="rId18"/>
    <p:sldLayoutId id="2147483690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6035" y="2811844"/>
            <a:ext cx="5620870" cy="168730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IN" sz="2800" dirty="0">
                <a:solidFill>
                  <a:schemeClr val="accent4">
                    <a:lumMod val="75000"/>
                  </a:schemeClr>
                </a:solidFill>
              </a:rPr>
              <a:t>Supermarket Sales Data Analysis</a:t>
            </a:r>
          </a:p>
          <a:p>
            <a:r>
              <a:rPr lang="en-IN" sz="2400" b="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IN" sz="2400" dirty="0"/>
              <a:t>Data Analytics Capstone Project</a:t>
            </a:r>
            <a:br>
              <a:rPr lang="en-IN" sz="2400" dirty="0"/>
            </a:br>
            <a:r>
              <a:rPr lang="en-IN" sz="2400" dirty="0"/>
              <a:t>Python • Power BI • GitHub)</a:t>
            </a:r>
            <a:endParaRPr lang="en-IN" sz="2400" b="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65783" y="4555159"/>
            <a:ext cx="562087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Presented by</a:t>
            </a:r>
            <a:r>
              <a:rPr lang="en-IN" sz="2400" b="1" dirty="0"/>
              <a:t>: </a:t>
            </a:r>
            <a:r>
              <a:rPr lang="en-IN" sz="2800" b="1" dirty="0"/>
              <a:t>Kirti Katte</a:t>
            </a:r>
            <a:br>
              <a:rPr lang="en-IN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842" y="1921305"/>
            <a:ext cx="9081546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/>
              <a:t>This project </a:t>
            </a:r>
            <a:r>
              <a:rPr lang="en-IN" sz="2400" dirty="0" err="1"/>
              <a:t>analyzes</a:t>
            </a:r>
            <a:r>
              <a:rPr lang="en-IN" sz="2400" dirty="0"/>
              <a:t> supermarket sales transaction data</a:t>
            </a:r>
            <a:r>
              <a:rPr lang="en-IN" sz="36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The analysis focuses on sales performance, customer </a:t>
            </a:r>
            <a:r>
              <a:rPr lang="en-IN" sz="2400" dirty="0" err="1"/>
              <a:t>behavior</a:t>
            </a:r>
            <a:r>
              <a:rPr lang="en-IN" sz="2400" dirty="0"/>
              <a:t>, product lines, cities, and payment methods.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Python was used for data preparation, EDA, and visualization.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Power BI was used to create an interactive dashboard.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The project provides data-driven insights and business recommendations.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42" y="690091"/>
            <a:ext cx="4549887" cy="829427"/>
          </a:xfrm>
        </p:spPr>
        <p:txBody>
          <a:bodyPr>
            <a:normAutofit/>
          </a:bodyPr>
          <a:lstStyle/>
          <a:p>
            <a:r>
              <a:rPr lang="en-IN" sz="2800" dirty="0"/>
              <a:t>Project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27" y="202846"/>
            <a:ext cx="6007231" cy="904782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r>
              <a:rPr lang="en-IN" sz="3100" b="0" dirty="0"/>
              <a:t>Dataset &amp;  Tools Used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271452"/>
            <a:ext cx="1667095" cy="5097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dirty="0"/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77D78-56A2-10E7-2B20-7B23408D835E}"/>
              </a:ext>
            </a:extLst>
          </p:cNvPr>
          <p:cNvSpPr txBox="1"/>
          <p:nvPr/>
        </p:nvSpPr>
        <p:spPr>
          <a:xfrm>
            <a:off x="660927" y="1809795"/>
            <a:ext cx="69252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Supermarket Sales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1,000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17 columns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Time period: January–March 2019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 Domain: Sales / Retail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85DE0-F2E1-D8CE-9FCA-F73CA2F77A19}"/>
              </a:ext>
            </a:extLst>
          </p:cNvPr>
          <p:cNvSpPr txBox="1"/>
          <p:nvPr/>
        </p:nvSpPr>
        <p:spPr>
          <a:xfrm>
            <a:off x="807164" y="3911720"/>
            <a:ext cx="98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143D0-0C5A-3F4A-74D4-38D27451E666}"/>
              </a:ext>
            </a:extLst>
          </p:cNvPr>
          <p:cNvSpPr txBox="1"/>
          <p:nvPr/>
        </p:nvSpPr>
        <p:spPr>
          <a:xfrm>
            <a:off x="767762" y="4532928"/>
            <a:ext cx="3617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Pandas &amp; 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</a:t>
            </a:r>
            <a:r>
              <a:rPr lang="en-IN" sz="2400" dirty="0" err="1"/>
              <a:t>Colab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Power BI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49" y="681062"/>
            <a:ext cx="8252890" cy="666078"/>
          </a:xfrm>
        </p:spPr>
        <p:txBody>
          <a:bodyPr>
            <a:noAutofit/>
          </a:bodyPr>
          <a:lstStyle/>
          <a:p>
            <a:r>
              <a:rPr lang="en-IN" sz="2800" dirty="0"/>
              <a:t>Data Cleaning &amp; Exploratory Data Analysis</a:t>
            </a:r>
            <a:r>
              <a:rPr lang="en-GB" sz="2800" dirty="0"/>
              <a:t>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6F1D9-2570-3656-D0F1-1DFD4DAA5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537" y="1969588"/>
            <a:ext cx="8577730" cy="3879884"/>
          </a:xfrm>
        </p:spPr>
        <p:txBody>
          <a:bodyPr/>
          <a:lstStyle/>
          <a:p>
            <a:pPr lvl="0"/>
            <a:r>
              <a:rPr lang="en-IN" sz="2400" dirty="0"/>
              <a:t>Checked dataset shape, columns, and data types. </a:t>
            </a:r>
          </a:p>
          <a:p>
            <a:pPr lvl="0"/>
            <a:r>
              <a:rPr lang="en-IN" sz="2400" dirty="0"/>
              <a:t>Checked missing values and duplicate records. </a:t>
            </a:r>
          </a:p>
          <a:p>
            <a:pPr lvl="0"/>
            <a:r>
              <a:rPr lang="en-IN" sz="2400" dirty="0"/>
              <a:t>Verified important numerical and categorical values. </a:t>
            </a:r>
          </a:p>
          <a:p>
            <a:pPr lvl="0"/>
            <a:r>
              <a:rPr lang="en-IN" sz="2400" dirty="0"/>
              <a:t>Converted the </a:t>
            </a:r>
            <a:r>
              <a:rPr lang="en-IN" sz="2400" b="1" dirty="0"/>
              <a:t>Date</a:t>
            </a:r>
            <a:r>
              <a:rPr lang="en-IN" sz="2400" dirty="0"/>
              <a:t> column into datetime format. </a:t>
            </a:r>
          </a:p>
          <a:p>
            <a:pPr lvl="0"/>
            <a:r>
              <a:rPr lang="en-IN" sz="2400" dirty="0"/>
              <a:t>Performed descriptive statistics and correlation analysis. </a:t>
            </a:r>
          </a:p>
          <a:p>
            <a:pPr lvl="0"/>
            <a:r>
              <a:rPr lang="en-IN" sz="2400" dirty="0" err="1"/>
              <a:t>Analyzed</a:t>
            </a:r>
            <a:r>
              <a:rPr lang="en-IN" sz="2400" dirty="0"/>
              <a:t> sales by product line, city, and month. </a:t>
            </a:r>
          </a:p>
          <a:p>
            <a:pPr lvl="0"/>
            <a:r>
              <a:rPr lang="en-IN" sz="2400" dirty="0"/>
              <a:t>Checked outliers using the IQR method.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4581843" cy="666078"/>
          </a:xfrm>
        </p:spPr>
        <p:txBody>
          <a:bodyPr>
            <a:noAutofit/>
          </a:bodyPr>
          <a:lstStyle/>
          <a:p>
            <a:r>
              <a:rPr lang="en-IN" sz="2800" dirty="0"/>
              <a:t>Data Visualizations</a:t>
            </a:r>
            <a:r>
              <a:rPr lang="en-GB" sz="2800" dirty="0"/>
              <a:t>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3" y="1275371"/>
            <a:ext cx="8782676" cy="2866323"/>
          </a:xfrm>
        </p:spPr>
        <p:txBody>
          <a:bodyPr/>
          <a:lstStyle/>
          <a:p>
            <a:pPr lvl="0"/>
            <a:r>
              <a:rPr lang="en-IN" sz="2400" dirty="0"/>
              <a:t>Total Sales by Product Line — Bar Chart </a:t>
            </a:r>
          </a:p>
          <a:p>
            <a:pPr lvl="0"/>
            <a:r>
              <a:rPr lang="en-IN" sz="2400" dirty="0"/>
              <a:t>Total Sales by City — Bar Chart </a:t>
            </a:r>
          </a:p>
          <a:p>
            <a:pPr lvl="0"/>
            <a:r>
              <a:rPr lang="en-IN" sz="2400" dirty="0"/>
              <a:t>Monthly Sales Trend — Line Chart </a:t>
            </a:r>
          </a:p>
          <a:p>
            <a:pPr lvl="0"/>
            <a:r>
              <a:rPr lang="en-IN" sz="2400" dirty="0"/>
              <a:t>Payment Method Distribution — Pie Chart </a:t>
            </a:r>
          </a:p>
          <a:p>
            <a:pPr lvl="0"/>
            <a:r>
              <a:rPr lang="en-IN" sz="2400" dirty="0"/>
              <a:t>Unit Price vs Quantity — Scatter Plot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04" y="487668"/>
            <a:ext cx="4971808" cy="477520"/>
          </a:xfrm>
        </p:spPr>
        <p:txBody>
          <a:bodyPr>
            <a:noAutofit/>
          </a:bodyPr>
          <a:lstStyle/>
          <a:p>
            <a:r>
              <a:rPr lang="en-IN" sz="2800" dirty="0"/>
              <a:t>Power BI Dashboard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941449"/>
            <a:ext cx="8673354" cy="3921470"/>
          </a:xfrm>
        </p:spPr>
        <p:txBody>
          <a:bodyPr/>
          <a:lstStyle/>
          <a:p>
            <a:pPr lvl="0"/>
            <a:r>
              <a:rPr lang="en-IN" sz="2400" dirty="0"/>
              <a:t>Interactive dashboard created using Power BI. </a:t>
            </a:r>
          </a:p>
          <a:p>
            <a:pPr lvl="0"/>
            <a:r>
              <a:rPr lang="en-IN" sz="2400" b="1" dirty="0"/>
              <a:t>KPI Cards:</a:t>
            </a:r>
            <a:r>
              <a:rPr lang="en-IN" sz="2400" dirty="0"/>
              <a:t> Total Sales, Total Gross Income, Total Quantity Sold. </a:t>
            </a:r>
          </a:p>
          <a:p>
            <a:pPr lvl="0"/>
            <a:r>
              <a:rPr lang="en-IN" sz="2400" b="1" dirty="0"/>
              <a:t>Visuals:</a:t>
            </a:r>
            <a:r>
              <a:rPr lang="en-IN" sz="2400" dirty="0"/>
              <a:t> Sales by Product Line, Sales by City, Monthly Sales Trend, Payment Method Distribution. </a:t>
            </a:r>
          </a:p>
          <a:p>
            <a:pPr lvl="0"/>
            <a:r>
              <a:rPr lang="en-IN" sz="2400" b="1" dirty="0"/>
              <a:t>Slicers:</a:t>
            </a:r>
            <a:r>
              <a:rPr lang="en-IN" sz="2400" dirty="0"/>
              <a:t> City, Product Line, Customer Type. </a:t>
            </a:r>
          </a:p>
          <a:p>
            <a:pPr lvl="0"/>
            <a:r>
              <a:rPr lang="en-IN" sz="2400" dirty="0"/>
              <a:t>The dashboard allows users to interactively explore sales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598902" cy="615819"/>
          </a:xfrm>
        </p:spPr>
        <p:txBody>
          <a:bodyPr>
            <a:noAutofit/>
          </a:bodyPr>
          <a:lstStyle/>
          <a:p>
            <a:r>
              <a:rPr lang="en-IN" sz="2800" dirty="0"/>
              <a:t>Dashboard Screenshot</a:t>
            </a:r>
            <a:r>
              <a:rPr lang="en-GB" sz="2800" dirty="0"/>
              <a:t> (Power BI)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1293" y="1410141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F0F88-376B-BADE-F45A-40C61F85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3" y="1344332"/>
            <a:ext cx="9428136" cy="45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8586" cy="666078"/>
          </a:xfrm>
        </p:spPr>
        <p:txBody>
          <a:bodyPr>
            <a:noAutofit/>
          </a:bodyPr>
          <a:lstStyle/>
          <a:p>
            <a:r>
              <a:rPr lang="en-IN" sz="2800" dirty="0"/>
              <a:t>Key Insights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698D8-14DE-AD8E-362E-CE0E808AAB3E}"/>
              </a:ext>
            </a:extLst>
          </p:cNvPr>
          <p:cNvSpPr txBox="1"/>
          <p:nvPr/>
        </p:nvSpPr>
        <p:spPr>
          <a:xfrm>
            <a:off x="320982" y="1275371"/>
            <a:ext cx="85319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Food and Beverages</a:t>
            </a:r>
            <a:r>
              <a:rPr lang="en-IN" sz="2400" dirty="0"/>
              <a:t> was the highest-performing product line.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Health and Beauty</a:t>
            </a:r>
            <a:r>
              <a:rPr lang="en-IN" sz="2400" dirty="0"/>
              <a:t> had comparatively lower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Naypyitaw</a:t>
            </a:r>
            <a:r>
              <a:rPr lang="en-IN" sz="2400" dirty="0"/>
              <a:t> recorded the highest total sales among the cities.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January</a:t>
            </a:r>
            <a:r>
              <a:rPr lang="en-IN" sz="2400" dirty="0"/>
              <a:t> had the highest monthly sales, while February was lower.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E-wallet</a:t>
            </a:r>
            <a:r>
              <a:rPr lang="en-IN" sz="2400" dirty="0"/>
              <a:t> was the most frequently used payment method.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Quantity sold showed a strong positive relationship with total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Both </a:t>
            </a:r>
            <a:r>
              <a:rPr lang="en-IN" sz="2400" b="1" dirty="0"/>
              <a:t>Member</a:t>
            </a:r>
            <a:r>
              <a:rPr lang="en-IN" sz="2400" dirty="0"/>
              <a:t> and </a:t>
            </a:r>
            <a:r>
              <a:rPr lang="en-IN" sz="2400" b="1" dirty="0"/>
              <a:t>Normal</a:t>
            </a:r>
            <a:r>
              <a:rPr lang="en-IN" sz="2400" dirty="0"/>
              <a:t> customers contributed significantly to sales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66" y="534932"/>
            <a:ext cx="7472961" cy="666078"/>
          </a:xfrm>
        </p:spPr>
        <p:txBody>
          <a:bodyPr>
            <a:noAutofit/>
          </a:bodyPr>
          <a:lstStyle/>
          <a:p>
            <a:r>
              <a:rPr lang="en-IN" sz="2800" dirty="0"/>
              <a:t>Business Recommendations &amp; Conclusion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E6833-72D7-0E1D-7809-BD6AE0F15216}"/>
              </a:ext>
            </a:extLst>
          </p:cNvPr>
          <p:cNvSpPr txBox="1"/>
          <p:nvPr/>
        </p:nvSpPr>
        <p:spPr>
          <a:xfrm>
            <a:off x="368266" y="2090172"/>
            <a:ext cx="85588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Promote low-performing product lines with targeted offers and combo deals.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sales in lower-performing cities through local promotions.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monthly sales trends for better inventory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Continue supporting digital payment methods and suitable offers.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03628"/>
            <a:ext cx="2712702" cy="666078"/>
          </a:xfrm>
        </p:spPr>
        <p:txBody>
          <a:bodyPr>
            <a:normAutofit/>
          </a:bodyPr>
          <a:lstStyle/>
          <a:p>
            <a:r>
              <a:rPr lang="en-IN" sz="2800" dirty="0"/>
              <a:t>Conclusion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E716B-E4BA-E9A5-872E-CEFA1E730626}"/>
              </a:ext>
            </a:extLst>
          </p:cNvPr>
          <p:cNvSpPr txBox="1"/>
          <p:nvPr/>
        </p:nvSpPr>
        <p:spPr>
          <a:xfrm>
            <a:off x="320982" y="2180153"/>
            <a:ext cx="81758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used Python and Power BI to </a:t>
            </a:r>
            <a:r>
              <a:rPr lang="en-IN" sz="2400" dirty="0" err="1"/>
              <a:t>analyze</a:t>
            </a:r>
            <a:r>
              <a:rPr lang="en-IN" sz="2400" dirty="0"/>
              <a:t> supermarket sales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analysis identified important patterns in products, cities, customers, payment methods, and sales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These insights can support better sales, inventory, marketing, and customer-engagement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592</TotalTime>
  <Words>456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Title -</vt:lpstr>
      <vt:lpstr>Project Overview</vt:lpstr>
      <vt:lpstr> Dataset &amp;  Tools Used</vt:lpstr>
      <vt:lpstr>Data Cleaning &amp; Exploratory Data Analysis </vt:lpstr>
      <vt:lpstr>Data Visualizations </vt:lpstr>
      <vt:lpstr>Power BI Dashboard</vt:lpstr>
      <vt:lpstr>Dashboard Screenshot (Power BI)</vt:lpstr>
      <vt:lpstr>Key Insights</vt:lpstr>
      <vt:lpstr>Business Recommendations &amp; 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kkirtikatte@gmail.com</cp:lastModifiedBy>
  <cp:revision>98</cp:revision>
  <dcterms:created xsi:type="dcterms:W3CDTF">2021-07-11T13:13:15Z</dcterms:created>
  <dcterms:modified xsi:type="dcterms:W3CDTF">2026-09-10T17:17:47Z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